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" y="1280160"/>
            <a:ext cx="1005840" cy="594360"/>
          </a:xfrm>
          <a:prstGeom prst="ellipse">
            <a:avLst/>
          </a:prstGeom>
          <a:solidFill>
            <a:srgbClr val="163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" y="1280160"/>
            <a:ext cx="1005840" cy="594360"/>
          </a:xfrm>
          <a:prstGeom prst="ellipse">
            <a:avLst/>
          </a:prstGeom>
          <a:noFill/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89888" y="1435608"/>
            <a:ext cx="420624" cy="42062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08760" y="1545336"/>
            <a:ext cx="182880" cy="18288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7860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AE6FD"/>
                </a:solidFill>
                <a:latin typeface="Calibri"/>
              </a:rPr>
              <a:t>TECH EXPRESS DESK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44368"/>
            <a:ext cx="7315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Business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62102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AI-Powered Self-Service IT Support Kiosk  ·  Phase 1 Investment Proposal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4059936"/>
            <a:ext cx="3200400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334256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B5E78"/>
                </a:solidFill>
                <a:latin typeface="Calibri"/>
              </a:rPr>
              <a:t>IT Operations – AI/ML Team  ·  v1.0 Draft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EA5E9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  <a:latin typeface="Cambria"/>
              </a:rPr>
              <a:t>IT Support Is Broken for the Modern Workforce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25880"/>
            <a:ext cx="47548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9903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  <a:latin typeface="Calibri"/>
              </a:rPr>
              <a:t>Slow Resolution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7335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Employees log a ticket and wait hours or days for simple, repeatable issues.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03704"/>
            <a:ext cx="47548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27685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  <a:latin typeface="Calibri"/>
              </a:rPr>
              <a:t>Repeat Tickets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51176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The same 20% of issue types account for 60-70% of all Service Desk volume.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081528"/>
            <a:ext cx="47548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1546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  <a:latin typeface="Calibri"/>
              </a:rPr>
              <a:t>No On-Site Help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2900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No walk-up intelligent support. Employees wait or self-diagnose unsuccessfully.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59352"/>
            <a:ext cx="47548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03250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  <a:latin typeface="Calibri"/>
              </a:rPr>
              <a:t>Thin Ticket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306824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Tickets arrive with minimal context, forcing SD agents to investigate from scratch.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0" y="1325880"/>
            <a:ext cx="3337560" cy="749808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68112" y="1399032"/>
            <a:ext cx="1371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EA5E9"/>
                </a:solidFill>
                <a:latin typeface="Cambria"/>
              </a:rPr>
              <a:t>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1435607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AE6FD"/>
                </a:solidFill>
                <a:latin typeface="Calibri"/>
              </a:rPr>
              <a:t>Avg. time to first
SD response per ticket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94960" y="2203704"/>
            <a:ext cx="3337560" cy="749808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68112" y="2276856"/>
            <a:ext cx="1371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EA5E9"/>
                </a:solidFill>
                <a:latin typeface="Cambria"/>
              </a:rPr>
              <a:t>60-70%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313432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AE6FD"/>
                </a:solidFill>
                <a:latin typeface="Calibri"/>
              </a:rPr>
              <a:t>Of tickets are repeat
or low-complexity issues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4960" y="3081528"/>
            <a:ext cx="3337560" cy="749808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68112" y="3154680"/>
            <a:ext cx="1371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EA5E9"/>
                </a:solidFill>
                <a:latin typeface="Cambria"/>
              </a:rPr>
              <a:t>$22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3191256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AE6FD"/>
                </a:solidFill>
                <a:latin typeface="Calibri"/>
              </a:rPr>
              <a:t>Estimated cost per ticket
resolved by SD agent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94960" y="3959352"/>
            <a:ext cx="3337560" cy="749808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68112" y="4032504"/>
            <a:ext cx="1371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EA5E9"/>
                </a:solidFill>
                <a:latin typeface="Cambria"/>
              </a:rPr>
              <a:t>2.3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4069080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AE6FD"/>
                </a:solidFill>
                <a:latin typeface="Calibri"/>
              </a:rPr>
              <a:t>Avg. ticket resolution
time across all priorities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EA5E9"/>
                </a:solidFill>
                <a:latin typeface="Calibr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  <a:latin typeface="Cambria"/>
              </a:rPr>
              <a:t>How TED Works — Three Intelligent Paths</a:t>
            </a:r>
          </a:p>
        </p:txBody>
      </p:sp>
      <p:sp>
        <p:nvSpPr>
          <p:cNvPr id="4" name="Oval 3"/>
          <p:cNvSpPr/>
          <p:nvPr/>
        </p:nvSpPr>
        <p:spPr>
          <a:xfrm>
            <a:off x="1371600" y="1207008"/>
            <a:ext cx="502920" cy="50292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2070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2971800" y="1399032"/>
            <a:ext cx="50292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78308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293B"/>
                </a:solidFill>
                <a:latin typeface="Calibri"/>
              </a:rPr>
              <a:t>Walk Up &amp; Authenticate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Badge tap or SSO login</a:t>
            </a:r>
          </a:p>
        </p:txBody>
      </p:sp>
      <p:sp>
        <p:nvSpPr>
          <p:cNvPr id="9" name="Oval 8"/>
          <p:cNvSpPr/>
          <p:nvPr/>
        </p:nvSpPr>
        <p:spPr>
          <a:xfrm>
            <a:off x="4160520" y="1207008"/>
            <a:ext cx="502920" cy="50292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60520" y="12070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399032"/>
            <a:ext cx="50292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7" y="178308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293B"/>
                </a:solidFill>
                <a:latin typeface="Calibri"/>
              </a:rPr>
              <a:t>Connect Device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2084831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USB or manual issue select</a:t>
            </a:r>
          </a:p>
        </p:txBody>
      </p:sp>
      <p:sp>
        <p:nvSpPr>
          <p:cNvPr id="14" name="Oval 13"/>
          <p:cNvSpPr/>
          <p:nvPr/>
        </p:nvSpPr>
        <p:spPr>
          <a:xfrm>
            <a:off x="6949440" y="1207008"/>
            <a:ext cx="502920" cy="50292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12070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178308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293B"/>
                </a:solidFill>
                <a:latin typeface="Calibri"/>
              </a:rPr>
              <a:t>AI Diagnostics Run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2084831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Scan completes in &lt;60 sec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542032"/>
            <a:ext cx="841248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651760"/>
            <a:ext cx="2697480" cy="230428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5488" y="2761488"/>
            <a:ext cx="594360" cy="23774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2761488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Path 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307238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  <a:latin typeface="Calibri"/>
              </a:rPr>
              <a:t>Self-Service Resolution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3447288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→  AI auto-fix applied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3794760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→  Employee confirms fix worked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414223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→  Session ends — no ticket created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464515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1">
                <a:solidFill>
                  <a:srgbClr val="16A34A"/>
                </a:solidFill>
                <a:latin typeface="Calibri"/>
              </a:rPr>
              <a:t>~30% of sessions resolved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18688" y="2651760"/>
            <a:ext cx="2697480" cy="230428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28416" y="2761488"/>
            <a:ext cx="594360" cy="23774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28416" y="2761488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Path 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28416" y="307238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  <a:latin typeface="Calibri"/>
              </a:rPr>
              <a:t>Guided Fix + SD Ticket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28416" y="3447288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→  AI provides step-by-step fix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28416" y="3794760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→  Screenshot &amp; diagnosis captured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28416" y="414223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→  Freshworks ticket auto-created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28416" y="464515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1">
                <a:solidFill>
                  <a:srgbClr val="0EA5E9"/>
                </a:solidFill>
                <a:latin typeface="Calibri"/>
              </a:rPr>
              <a:t>Pre-filled, AI-enriched ticket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71616" y="2651760"/>
            <a:ext cx="2697480" cy="230428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81344" y="2761488"/>
            <a:ext cx="594360" cy="2377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81344" y="2761488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Path 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81344" y="307238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  <a:latin typeface="Calibri"/>
              </a:rPr>
              <a:t>Loaner Device Dispensed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81344" y="3447288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→  Hardware failure confirmed by 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81344" y="3794760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→  Kiosk locker unlocks loaner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81344" y="414223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→  Asset logged in Freshworks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81344" y="464515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1">
                <a:solidFill>
                  <a:srgbClr val="D97706"/>
                </a:solidFill>
                <a:latin typeface="Calibri"/>
              </a:rPr>
              <a:t>Zero downtime for employee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EA5E9"/>
                </a:solidFill>
                <a:latin typeface="Calibri"/>
              </a:rPr>
              <a:t>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mbria"/>
              </a:rPr>
              <a:t>Measurable Impact from Day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98448"/>
            <a:ext cx="2633472" cy="1508760"/>
          </a:xfrm>
          <a:prstGeom prst="rect">
            <a:avLst/>
          </a:prstGeom>
          <a:solidFill>
            <a:srgbClr val="163360"/>
          </a:solidFill>
          <a:ln w="9525">
            <a:solidFill>
              <a:srgbClr val="1E4D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444751"/>
            <a:ext cx="2331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EA5E9"/>
                </a:solidFill>
                <a:latin typeface="Cambria"/>
              </a:rPr>
              <a:t>&gt;30%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993391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Ticket Deflection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2286000"/>
            <a:ext cx="2331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Sessions resolved without any SD ticket</a:t>
            </a:r>
          </a:p>
        </p:txBody>
      </p:sp>
      <p:sp>
        <p:nvSpPr>
          <p:cNvPr id="8" name="Rectangle 7"/>
          <p:cNvSpPr/>
          <p:nvPr/>
        </p:nvSpPr>
        <p:spPr>
          <a:xfrm>
            <a:off x="3182112" y="1298448"/>
            <a:ext cx="2633472" cy="1508760"/>
          </a:xfrm>
          <a:prstGeom prst="rect">
            <a:avLst/>
          </a:prstGeom>
          <a:solidFill>
            <a:srgbClr val="163360"/>
          </a:solidFill>
          <a:ln w="9525">
            <a:solidFill>
              <a:srgbClr val="1E4D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46704" y="1444751"/>
            <a:ext cx="2331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EA5E9"/>
                </a:solidFill>
                <a:latin typeface="Cambria"/>
              </a:rPr>
              <a:t>&gt;25%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6704" y="1993391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Self-Service Resolution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6704" y="2286000"/>
            <a:ext cx="2331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Issues resolved at kiosk — zero SD involvement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98464" y="1298448"/>
            <a:ext cx="2633472" cy="1508760"/>
          </a:xfrm>
          <a:prstGeom prst="rect">
            <a:avLst/>
          </a:prstGeom>
          <a:solidFill>
            <a:srgbClr val="163360"/>
          </a:solidFill>
          <a:ln w="9525">
            <a:solidFill>
              <a:srgbClr val="1E4D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3056" y="1444751"/>
            <a:ext cx="2331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EA5E9"/>
                </a:solidFill>
                <a:latin typeface="Cambria"/>
              </a:rPr>
              <a:t>&lt;5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3056" y="1993391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Avg. Kiosk Session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3056" y="2286000"/>
            <a:ext cx="2331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From login to resolution or ticket creation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017520"/>
            <a:ext cx="2633472" cy="1508760"/>
          </a:xfrm>
          <a:prstGeom prst="rect">
            <a:avLst/>
          </a:prstGeom>
          <a:solidFill>
            <a:srgbClr val="163360"/>
          </a:solidFill>
          <a:ln w="9525">
            <a:solidFill>
              <a:srgbClr val="1E4D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3163824"/>
            <a:ext cx="2331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EA5E9"/>
                </a:solidFill>
                <a:latin typeface="Cambria"/>
              </a:rPr>
              <a:t>&gt;80%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3712463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AI Diagnosis 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4005072"/>
            <a:ext cx="2331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Issue category correct vs SD final outcome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82112" y="3017520"/>
            <a:ext cx="2633472" cy="1508760"/>
          </a:xfrm>
          <a:prstGeom prst="rect">
            <a:avLst/>
          </a:prstGeom>
          <a:solidFill>
            <a:srgbClr val="163360"/>
          </a:solidFill>
          <a:ln w="9525">
            <a:solidFill>
              <a:srgbClr val="1E4D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46704" y="3163824"/>
            <a:ext cx="2331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EA5E9"/>
                </a:solidFill>
                <a:latin typeface="Cambria"/>
              </a:rPr>
              <a:t>20%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3712463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Faster SD Resolution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4005072"/>
            <a:ext cx="2331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Handle time vs standard tickets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8464" y="3017520"/>
            <a:ext cx="2633472" cy="1508760"/>
          </a:xfrm>
          <a:prstGeom prst="rect">
            <a:avLst/>
          </a:prstGeom>
          <a:solidFill>
            <a:srgbClr val="163360"/>
          </a:solidFill>
          <a:ln w="9525">
            <a:solidFill>
              <a:srgbClr val="1E4D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63056" y="3163824"/>
            <a:ext cx="2331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EA5E9"/>
                </a:solidFill>
                <a:latin typeface="Cambria"/>
              </a:rPr>
              <a:t>&gt;4.0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63056" y="3712463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Employee CSAT 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63056" y="4005072"/>
            <a:ext cx="2331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Post-session survey target out of 5.0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EA5E9"/>
                </a:solidFill>
                <a:latin typeface="Calibri"/>
              </a:rPr>
              <a:t>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  <a:latin typeface="Cambria"/>
              </a:rPr>
              <a:t>5 Phases · 20 Weeks to Full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1371600"/>
            <a:ext cx="8449056" cy="640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252728"/>
            <a:ext cx="256032" cy="256032"/>
          </a:xfrm>
          <a:prstGeom prst="ellipse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664208"/>
            <a:ext cx="1609344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1755648"/>
            <a:ext cx="402336" cy="25603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755648"/>
            <a:ext cx="402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08483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Calibri"/>
              </a:rPr>
              <a:t>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432304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1">
                <a:solidFill>
                  <a:srgbClr val="0369A1"/>
                </a:solidFill>
                <a:latin typeface="Calibri"/>
              </a:rPr>
              <a:t>Wk 1-3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743200"/>
            <a:ext cx="14813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·  Docker infra + CI/CD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3200400"/>
            <a:ext cx="14813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·  PostgreSQL + Redis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3657600"/>
            <a:ext cx="14813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·  SSO + Badge Auth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4114800"/>
            <a:ext cx="14813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·  API scaffolding</a:t>
            </a:r>
          </a:p>
        </p:txBody>
      </p:sp>
      <p:sp>
        <p:nvSpPr>
          <p:cNvPr id="15" name="Oval 14"/>
          <p:cNvSpPr/>
          <p:nvPr/>
        </p:nvSpPr>
        <p:spPr>
          <a:xfrm>
            <a:off x="2624328" y="1252728"/>
            <a:ext cx="256032" cy="256032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93976" y="1664208"/>
            <a:ext cx="1609344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85416" y="1755648"/>
            <a:ext cx="402336" cy="25603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85416" y="1755648"/>
            <a:ext cx="402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208483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Calibri"/>
              </a:rPr>
              <a:t>AI 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2432304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1">
                <a:solidFill>
                  <a:srgbClr val="0891B2"/>
                </a:solidFill>
                <a:latin typeface="Calibri"/>
              </a:rPr>
              <a:t>Wk 4-7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2743200"/>
            <a:ext cx="14813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·  Error DB (100+ items)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3200400"/>
            <a:ext cx="14813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·  OCR 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3657600"/>
            <a:ext cx="14813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·  LLM (Groq/Azure)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4114800"/>
            <a:ext cx="14813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·  RAG + pgvector</a:t>
            </a:r>
          </a:p>
        </p:txBody>
      </p:sp>
      <p:sp>
        <p:nvSpPr>
          <p:cNvPr id="25" name="Oval 24"/>
          <p:cNvSpPr/>
          <p:nvPr/>
        </p:nvSpPr>
        <p:spPr>
          <a:xfrm>
            <a:off x="4334256" y="1252728"/>
            <a:ext cx="256032" cy="25603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03904" y="1664208"/>
            <a:ext cx="1609344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95344" y="1755648"/>
            <a:ext cx="402336" cy="2560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95344" y="1755648"/>
            <a:ext cx="402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58768" y="208483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Calibri"/>
              </a:rPr>
              <a:t>ITSM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58768" y="2432304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1">
                <a:solidFill>
                  <a:srgbClr val="0EA5E9"/>
                </a:solidFill>
                <a:latin typeface="Calibri"/>
              </a:rPr>
              <a:t>Wk 8-10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58768" y="2743200"/>
            <a:ext cx="14813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·  Freshworks 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58768" y="3200400"/>
            <a:ext cx="14813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·  Auto-ticket creation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58768" y="3657600"/>
            <a:ext cx="14813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·  KB + ticket lookup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58768" y="4114800"/>
            <a:ext cx="14813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·  Asset + loaner SR</a:t>
            </a:r>
          </a:p>
        </p:txBody>
      </p:sp>
      <p:sp>
        <p:nvSpPr>
          <p:cNvPr id="35" name="Oval 34"/>
          <p:cNvSpPr/>
          <p:nvPr/>
        </p:nvSpPr>
        <p:spPr>
          <a:xfrm>
            <a:off x="6044184" y="1252728"/>
            <a:ext cx="256032" cy="25603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13832" y="1664208"/>
            <a:ext cx="1609344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05272" y="1755648"/>
            <a:ext cx="402336" cy="2560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05272" y="1755648"/>
            <a:ext cx="402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68696" y="208483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Calibri"/>
              </a:rPr>
              <a:t>Kiosk UI + QA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68696" y="2432304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1">
                <a:solidFill>
                  <a:srgbClr val="0EA5E9"/>
                </a:solidFill>
                <a:latin typeface="Calibri"/>
              </a:rPr>
              <a:t>Wk 11-14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68696" y="2743200"/>
            <a:ext cx="14813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·  React 18 touch UI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68696" y="3200400"/>
            <a:ext cx="14813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·  All screen flows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68696" y="3657600"/>
            <a:ext cx="14813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·  Security testing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68696" y="4114800"/>
            <a:ext cx="14813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·  OWASP ZAP scan</a:t>
            </a:r>
          </a:p>
        </p:txBody>
      </p:sp>
      <p:sp>
        <p:nvSpPr>
          <p:cNvPr id="45" name="Oval 44"/>
          <p:cNvSpPr/>
          <p:nvPr/>
        </p:nvSpPr>
        <p:spPr>
          <a:xfrm>
            <a:off x="7754112" y="1252728"/>
            <a:ext cx="256032" cy="25603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23760" y="1664208"/>
            <a:ext cx="1609344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315200" y="1755648"/>
            <a:ext cx="402336" cy="2560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0" y="1755648"/>
            <a:ext cx="402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78624" y="208483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Calibri"/>
              </a:rPr>
              <a:t>Pilot + Rollout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78624" y="2432304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1">
                <a:solidFill>
                  <a:srgbClr val="38BDF8"/>
                </a:solidFill>
                <a:latin typeface="Calibri"/>
              </a:rPr>
              <a:t>Wk 15-20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78624" y="2743200"/>
            <a:ext cx="14813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·  1-2 kiosk pilot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78624" y="3200400"/>
            <a:ext cx="14813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·  Grafana monitoring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78624" y="3657600"/>
            <a:ext cx="14813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·  CSAT tracking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78624" y="4114800"/>
            <a:ext cx="14813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·  Full site rollout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7472" y="4773168"/>
            <a:ext cx="8449056" cy="2743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AE6FD"/>
                </a:solidFill>
                <a:latin typeface="Calibri"/>
              </a:rPr>
              <a:t>Go-Live Target: Week 20  ·  Full production rollout with live monitoring &amp; deflection reporting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EA5E9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What We Need to Proceed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AE6FD"/>
                </a:solidFill>
                <a:latin typeface="Calibri"/>
              </a:rPr>
              <a:t>Decisions Required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91056"/>
            <a:ext cx="4160520" cy="438912"/>
          </a:xfrm>
          <a:prstGeom prst="rect">
            <a:avLst/>
          </a:prstGeom>
          <a:solidFill>
            <a:srgbClr val="163360"/>
          </a:solidFill>
          <a:ln w="9525">
            <a:solidFill>
              <a:srgbClr val="1E4D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27632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EA5E9"/>
                </a:solidFill>
                <a:latin typeface="Calibri"/>
              </a:rPr>
              <a:t>IT 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01368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Calibri"/>
              </a:rPr>
              <a:t>Phase 1 kiosk unit count and office site selection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03120"/>
            <a:ext cx="4160520" cy="438912"/>
          </a:xfrm>
          <a:prstGeom prst="rect">
            <a:avLst/>
          </a:prstGeom>
          <a:solidFill>
            <a:srgbClr val="163360"/>
          </a:solidFill>
          <a:ln w="9525">
            <a:solidFill>
              <a:srgbClr val="1E4D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39696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EA5E9"/>
                </a:solidFill>
                <a:latin typeface="Calibri"/>
              </a:rPr>
              <a:t>AI/ML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13432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Calibri"/>
              </a:rPr>
              <a:t>LLM provider: Groq (cost) vs Azure OpenAI (SLA)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15184"/>
            <a:ext cx="4160520" cy="438912"/>
          </a:xfrm>
          <a:prstGeom prst="rect">
            <a:avLst/>
          </a:prstGeom>
          <a:solidFill>
            <a:srgbClr val="163360"/>
          </a:solidFill>
          <a:ln w="9525">
            <a:solidFill>
              <a:srgbClr val="1E4D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651760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EA5E9"/>
                </a:solidFill>
                <a:latin typeface="Calibri"/>
              </a:rPr>
              <a:t>IT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825496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Calibri"/>
              </a:rPr>
              <a:t>SSO identity provider: Azure AD or Okta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127248"/>
            <a:ext cx="4160520" cy="438912"/>
          </a:xfrm>
          <a:prstGeom prst="rect">
            <a:avLst/>
          </a:prstGeom>
          <a:solidFill>
            <a:srgbClr val="163360"/>
          </a:solidFill>
          <a:ln w="9525">
            <a:solidFill>
              <a:srgbClr val="1E4D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163824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EA5E9"/>
                </a:solidFill>
                <a:latin typeface="Calibri"/>
              </a:rPr>
              <a:t>Asset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337560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Calibri"/>
              </a:rPr>
              <a:t>Loaner device inventory + approval workflow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639312"/>
            <a:ext cx="4160520" cy="438912"/>
          </a:xfrm>
          <a:prstGeom prst="rect">
            <a:avLst/>
          </a:prstGeom>
          <a:solidFill>
            <a:srgbClr val="163360"/>
          </a:solidFill>
          <a:ln w="9525">
            <a:solidFill>
              <a:srgbClr val="1E4D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675888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EA5E9"/>
                </a:solidFill>
                <a:latin typeface="Calibri"/>
              </a:rPr>
              <a:t>Legal/Compliance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849624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Calibri"/>
              </a:rPr>
              <a:t>Data retention policy for session recordings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151376"/>
            <a:ext cx="4160520" cy="438912"/>
          </a:xfrm>
          <a:prstGeom prst="rect">
            <a:avLst/>
          </a:prstGeom>
          <a:solidFill>
            <a:srgbClr val="163360"/>
          </a:solidFill>
          <a:ln w="9525">
            <a:solidFill>
              <a:srgbClr val="1E4D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187952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EA5E9"/>
                </a:solidFill>
                <a:latin typeface="Calibri"/>
              </a:rPr>
              <a:t>IT 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361688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Calibri"/>
              </a:rPr>
              <a:t>Freshworks API tier and rate limit confirmation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1207008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AE6FD"/>
                </a:solidFill>
                <a:latin typeface="Calibri"/>
              </a:rPr>
              <a:t>Immediate Actions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73168" y="1591056"/>
            <a:ext cx="3931920" cy="438912"/>
          </a:xfrm>
          <a:prstGeom prst="rect">
            <a:avLst/>
          </a:prstGeom>
          <a:solidFill>
            <a:srgbClr val="0C1F3A"/>
          </a:solidFill>
          <a:ln w="952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92040" y="162763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EA5E9"/>
                </a:solidFill>
                <a:latin typeface="Calibri"/>
              </a:rPr>
              <a:t>Week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180136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Approve Phase 1 budget &amp; resource allocation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73168" y="2103120"/>
            <a:ext cx="3931920" cy="438912"/>
          </a:xfrm>
          <a:prstGeom prst="rect">
            <a:avLst/>
          </a:prstGeom>
          <a:solidFill>
            <a:srgbClr val="0C1F3A"/>
          </a:solidFill>
          <a:ln w="952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92040" y="213969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EA5E9"/>
                </a:solidFill>
                <a:latin typeface="Calibri"/>
              </a:rPr>
              <a:t>Week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231343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Assign project lead and core engineering team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73168" y="2615184"/>
            <a:ext cx="3931920" cy="438912"/>
          </a:xfrm>
          <a:prstGeom prst="rect">
            <a:avLst/>
          </a:prstGeom>
          <a:solidFill>
            <a:srgbClr val="0C1F3A"/>
          </a:solidFill>
          <a:ln w="952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92040" y="26517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EA5E9"/>
                </a:solidFill>
                <a:latin typeface="Calibri"/>
              </a:rPr>
              <a:t>Week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282549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Confirm Freshworks API access and credentials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73168" y="3127248"/>
            <a:ext cx="3931920" cy="438912"/>
          </a:xfrm>
          <a:prstGeom prst="rect">
            <a:avLst/>
          </a:prstGeom>
          <a:solidFill>
            <a:srgbClr val="0C1F3A"/>
          </a:solidFill>
          <a:ln w="952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92040" y="316382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EA5E9"/>
                </a:solidFill>
                <a:latin typeface="Calibri"/>
              </a:rPr>
              <a:t>Week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2040" y="333756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Complete site assessment for kiosk placement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73168" y="3639312"/>
            <a:ext cx="3931920" cy="438912"/>
          </a:xfrm>
          <a:prstGeom prst="rect">
            <a:avLst/>
          </a:prstGeom>
          <a:solidFill>
            <a:srgbClr val="0C1F3A"/>
          </a:solidFill>
          <a:ln w="952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92040" y="367588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EA5E9"/>
                </a:solidFill>
                <a:latin typeface="Calibri"/>
              </a:rPr>
              <a:t>Week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92040" y="3849624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Kick off Phase 1: repo, infra, CI/CD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73168" y="4151376"/>
            <a:ext cx="3931920" cy="438912"/>
          </a:xfrm>
          <a:prstGeom prst="rect">
            <a:avLst/>
          </a:prstGeom>
          <a:solidFill>
            <a:srgbClr val="0C1F3A"/>
          </a:solidFill>
          <a:ln w="952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92040" y="418795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EA5E9"/>
                </a:solidFill>
                <a:latin typeface="Calibri"/>
              </a:rPr>
              <a:t>Week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92040" y="43616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Phase 1 checkpoint — proceed to AI Core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